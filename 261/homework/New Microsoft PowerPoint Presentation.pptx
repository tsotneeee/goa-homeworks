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B2E26-43A0-49D4-B06A-17B15E1A485E}" type="datetimeFigureOut">
              <a:rPr lang="ka-GE" smtClean="0"/>
              <a:t>02.02.2026</a:t>
            </a:fld>
            <a:endParaRPr lang="ka-G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a-G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D0349-FBED-4980-8179-BE2704519FE1}" type="slidenum">
              <a:rPr lang="ka-GE" smtClean="0"/>
              <a:t>‹#›</a:t>
            </a:fld>
            <a:endParaRPr lang="ka-GE"/>
          </a:p>
        </p:txBody>
      </p:sp>
    </p:spTree>
    <p:extLst>
      <p:ext uri="{BB962C8B-B14F-4D97-AF65-F5344CB8AC3E}">
        <p14:creationId xmlns:p14="http://schemas.microsoft.com/office/powerpoint/2010/main" val="774307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B2E26-43A0-49D4-B06A-17B15E1A485E}" type="datetimeFigureOut">
              <a:rPr lang="ka-GE" smtClean="0"/>
              <a:t>02.02.2026</a:t>
            </a:fld>
            <a:endParaRPr lang="ka-G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a-G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D0349-FBED-4980-8179-BE2704519FE1}" type="slidenum">
              <a:rPr lang="ka-GE" smtClean="0"/>
              <a:t>‹#›</a:t>
            </a:fld>
            <a:endParaRPr lang="ka-GE"/>
          </a:p>
        </p:txBody>
      </p:sp>
    </p:spTree>
    <p:extLst>
      <p:ext uri="{BB962C8B-B14F-4D97-AF65-F5344CB8AC3E}">
        <p14:creationId xmlns:p14="http://schemas.microsoft.com/office/powerpoint/2010/main" val="25311305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B2E26-43A0-49D4-B06A-17B15E1A485E}" type="datetimeFigureOut">
              <a:rPr lang="ka-GE" smtClean="0"/>
              <a:t>02.02.2026</a:t>
            </a:fld>
            <a:endParaRPr lang="ka-G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a-G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D0349-FBED-4980-8179-BE2704519FE1}" type="slidenum">
              <a:rPr lang="ka-GE" smtClean="0"/>
              <a:t>‹#›</a:t>
            </a:fld>
            <a:endParaRPr lang="ka-GE"/>
          </a:p>
        </p:txBody>
      </p:sp>
    </p:spTree>
    <p:extLst>
      <p:ext uri="{BB962C8B-B14F-4D97-AF65-F5344CB8AC3E}">
        <p14:creationId xmlns:p14="http://schemas.microsoft.com/office/powerpoint/2010/main" val="21736680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B2E26-43A0-49D4-B06A-17B15E1A485E}" type="datetimeFigureOut">
              <a:rPr lang="ka-GE" smtClean="0"/>
              <a:t>02.02.2026</a:t>
            </a:fld>
            <a:endParaRPr lang="ka-G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a-G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D0349-FBED-4980-8179-BE2704519FE1}" type="slidenum">
              <a:rPr lang="ka-GE" smtClean="0"/>
              <a:t>‹#›</a:t>
            </a:fld>
            <a:endParaRPr lang="ka-GE"/>
          </a:p>
        </p:txBody>
      </p:sp>
    </p:spTree>
    <p:extLst>
      <p:ext uri="{BB962C8B-B14F-4D97-AF65-F5344CB8AC3E}">
        <p14:creationId xmlns:p14="http://schemas.microsoft.com/office/powerpoint/2010/main" val="15815405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B2E26-43A0-49D4-B06A-17B15E1A485E}" type="datetimeFigureOut">
              <a:rPr lang="ka-GE" smtClean="0"/>
              <a:t>02.02.2026</a:t>
            </a:fld>
            <a:endParaRPr lang="ka-G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a-G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D0349-FBED-4980-8179-BE2704519FE1}" type="slidenum">
              <a:rPr lang="ka-GE" smtClean="0"/>
              <a:t>‹#›</a:t>
            </a:fld>
            <a:endParaRPr lang="ka-GE"/>
          </a:p>
        </p:txBody>
      </p:sp>
    </p:spTree>
    <p:extLst>
      <p:ext uri="{BB962C8B-B14F-4D97-AF65-F5344CB8AC3E}">
        <p14:creationId xmlns:p14="http://schemas.microsoft.com/office/powerpoint/2010/main" val="35008895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B2E26-43A0-49D4-B06A-17B15E1A485E}" type="datetimeFigureOut">
              <a:rPr lang="ka-GE" smtClean="0"/>
              <a:t>02.02.2026</a:t>
            </a:fld>
            <a:endParaRPr lang="ka-GE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a-GE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D0349-FBED-4980-8179-BE2704519FE1}" type="slidenum">
              <a:rPr lang="ka-GE" smtClean="0"/>
              <a:t>‹#›</a:t>
            </a:fld>
            <a:endParaRPr lang="ka-GE"/>
          </a:p>
        </p:txBody>
      </p:sp>
    </p:spTree>
    <p:extLst>
      <p:ext uri="{BB962C8B-B14F-4D97-AF65-F5344CB8AC3E}">
        <p14:creationId xmlns:p14="http://schemas.microsoft.com/office/powerpoint/2010/main" val="27620580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B2E26-43A0-49D4-B06A-17B15E1A485E}" type="datetimeFigureOut">
              <a:rPr lang="ka-GE" smtClean="0"/>
              <a:t>02.02.2026</a:t>
            </a:fld>
            <a:endParaRPr lang="ka-GE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a-GE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D0349-FBED-4980-8179-BE2704519FE1}" type="slidenum">
              <a:rPr lang="ka-GE" smtClean="0"/>
              <a:t>‹#›</a:t>
            </a:fld>
            <a:endParaRPr lang="ka-GE"/>
          </a:p>
        </p:txBody>
      </p:sp>
    </p:spTree>
    <p:extLst>
      <p:ext uri="{BB962C8B-B14F-4D97-AF65-F5344CB8AC3E}">
        <p14:creationId xmlns:p14="http://schemas.microsoft.com/office/powerpoint/2010/main" val="14791287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B2E26-43A0-49D4-B06A-17B15E1A485E}" type="datetimeFigureOut">
              <a:rPr lang="ka-GE" smtClean="0"/>
              <a:t>02.02.2026</a:t>
            </a:fld>
            <a:endParaRPr lang="ka-GE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a-GE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D0349-FBED-4980-8179-BE2704519FE1}" type="slidenum">
              <a:rPr lang="ka-GE" smtClean="0"/>
              <a:t>‹#›</a:t>
            </a:fld>
            <a:endParaRPr lang="ka-GE"/>
          </a:p>
        </p:txBody>
      </p:sp>
    </p:spTree>
    <p:extLst>
      <p:ext uri="{BB962C8B-B14F-4D97-AF65-F5344CB8AC3E}">
        <p14:creationId xmlns:p14="http://schemas.microsoft.com/office/powerpoint/2010/main" val="16176970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B2E26-43A0-49D4-B06A-17B15E1A485E}" type="datetimeFigureOut">
              <a:rPr lang="ka-GE" smtClean="0"/>
              <a:t>02.02.2026</a:t>
            </a:fld>
            <a:endParaRPr lang="ka-G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a-G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D0349-FBED-4980-8179-BE2704519FE1}" type="slidenum">
              <a:rPr lang="ka-GE" smtClean="0"/>
              <a:t>‹#›</a:t>
            </a:fld>
            <a:endParaRPr lang="ka-GE"/>
          </a:p>
        </p:txBody>
      </p:sp>
    </p:spTree>
    <p:extLst>
      <p:ext uri="{BB962C8B-B14F-4D97-AF65-F5344CB8AC3E}">
        <p14:creationId xmlns:p14="http://schemas.microsoft.com/office/powerpoint/2010/main" val="27113634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B2E26-43A0-49D4-B06A-17B15E1A485E}" type="datetimeFigureOut">
              <a:rPr lang="ka-GE" smtClean="0"/>
              <a:t>02.02.2026</a:t>
            </a:fld>
            <a:endParaRPr lang="ka-G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a-G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D0349-FBED-4980-8179-BE2704519FE1}" type="slidenum">
              <a:rPr lang="ka-GE" smtClean="0"/>
              <a:t>‹#›</a:t>
            </a:fld>
            <a:endParaRPr lang="ka-GE"/>
          </a:p>
        </p:txBody>
      </p:sp>
    </p:spTree>
    <p:extLst>
      <p:ext uri="{BB962C8B-B14F-4D97-AF65-F5344CB8AC3E}">
        <p14:creationId xmlns:p14="http://schemas.microsoft.com/office/powerpoint/2010/main" val="23648512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B2E26-43A0-49D4-B06A-17B15E1A485E}" type="datetimeFigureOut">
              <a:rPr lang="ka-GE" smtClean="0"/>
              <a:t>02.02.2026</a:t>
            </a:fld>
            <a:endParaRPr lang="ka-G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a-G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D0349-FBED-4980-8179-BE2704519FE1}" type="slidenum">
              <a:rPr lang="ka-GE" smtClean="0"/>
              <a:t>‹#›</a:t>
            </a:fld>
            <a:endParaRPr lang="ka-GE"/>
          </a:p>
        </p:txBody>
      </p:sp>
    </p:spTree>
    <p:extLst>
      <p:ext uri="{BB962C8B-B14F-4D97-AF65-F5344CB8AC3E}">
        <p14:creationId xmlns:p14="http://schemas.microsoft.com/office/powerpoint/2010/main" val="20877584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B2E26-43A0-49D4-B06A-17B15E1A485E}" type="datetimeFigureOut">
              <a:rPr lang="ka-GE" smtClean="0"/>
              <a:t>02.02.2026</a:t>
            </a:fld>
            <a:endParaRPr lang="ka-G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a-G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D0349-FBED-4980-8179-BE2704519FE1}" type="slidenum">
              <a:rPr lang="ka-GE" smtClean="0"/>
              <a:t>‹#›</a:t>
            </a:fld>
            <a:endParaRPr lang="ka-GE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998965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B2E26-43A0-49D4-B06A-17B15E1A485E}" type="datetimeFigureOut">
              <a:rPr lang="ka-GE" smtClean="0"/>
              <a:t>02.02.2026</a:t>
            </a:fld>
            <a:endParaRPr lang="ka-G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a-G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D0349-FBED-4980-8179-BE2704519FE1}" type="slidenum">
              <a:rPr lang="ka-GE" smtClean="0"/>
              <a:t>‹#›</a:t>
            </a:fld>
            <a:endParaRPr lang="ka-GE"/>
          </a:p>
        </p:txBody>
      </p:sp>
    </p:spTree>
    <p:extLst>
      <p:ext uri="{BB962C8B-B14F-4D97-AF65-F5344CB8AC3E}">
        <p14:creationId xmlns:p14="http://schemas.microsoft.com/office/powerpoint/2010/main" val="22512413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B2E26-43A0-49D4-B06A-17B15E1A485E}" type="datetimeFigureOut">
              <a:rPr lang="ka-GE" smtClean="0"/>
              <a:t>02.02.2026</a:t>
            </a:fld>
            <a:endParaRPr lang="ka-GE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a-G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D0349-FBED-4980-8179-BE2704519FE1}" type="slidenum">
              <a:rPr lang="ka-GE" smtClean="0"/>
              <a:t>‹#›</a:t>
            </a:fld>
            <a:endParaRPr lang="ka-GE"/>
          </a:p>
        </p:txBody>
      </p:sp>
    </p:spTree>
    <p:extLst>
      <p:ext uri="{BB962C8B-B14F-4D97-AF65-F5344CB8AC3E}">
        <p14:creationId xmlns:p14="http://schemas.microsoft.com/office/powerpoint/2010/main" val="16216613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B2E26-43A0-49D4-B06A-17B15E1A485E}" type="datetimeFigureOut">
              <a:rPr lang="ka-GE" smtClean="0"/>
              <a:t>02.02.2026</a:t>
            </a:fld>
            <a:endParaRPr lang="ka-GE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a-G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D0349-FBED-4980-8179-BE2704519FE1}" type="slidenum">
              <a:rPr lang="ka-GE" smtClean="0"/>
              <a:t>‹#›</a:t>
            </a:fld>
            <a:endParaRPr lang="ka-GE"/>
          </a:p>
        </p:txBody>
      </p:sp>
    </p:spTree>
    <p:extLst>
      <p:ext uri="{BB962C8B-B14F-4D97-AF65-F5344CB8AC3E}">
        <p14:creationId xmlns:p14="http://schemas.microsoft.com/office/powerpoint/2010/main" val="25322121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B2E26-43A0-49D4-B06A-17B15E1A485E}" type="datetimeFigureOut">
              <a:rPr lang="ka-GE" smtClean="0"/>
              <a:t>02.02.2026</a:t>
            </a:fld>
            <a:endParaRPr lang="ka-G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a-G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D0349-FBED-4980-8179-BE2704519FE1}" type="slidenum">
              <a:rPr lang="ka-GE" smtClean="0"/>
              <a:t>‹#›</a:t>
            </a:fld>
            <a:endParaRPr lang="ka-GE"/>
          </a:p>
        </p:txBody>
      </p:sp>
    </p:spTree>
    <p:extLst>
      <p:ext uri="{BB962C8B-B14F-4D97-AF65-F5344CB8AC3E}">
        <p14:creationId xmlns:p14="http://schemas.microsoft.com/office/powerpoint/2010/main" val="17055802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B2E26-43A0-49D4-B06A-17B15E1A485E}" type="datetimeFigureOut">
              <a:rPr lang="ka-GE" smtClean="0"/>
              <a:t>02.02.2026</a:t>
            </a:fld>
            <a:endParaRPr lang="ka-G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a-G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D0349-FBED-4980-8179-BE2704519FE1}" type="slidenum">
              <a:rPr lang="ka-GE" smtClean="0"/>
              <a:t>‹#›</a:t>
            </a:fld>
            <a:endParaRPr lang="ka-GE"/>
          </a:p>
        </p:txBody>
      </p:sp>
    </p:spTree>
    <p:extLst>
      <p:ext uri="{BB962C8B-B14F-4D97-AF65-F5344CB8AC3E}">
        <p14:creationId xmlns:p14="http://schemas.microsoft.com/office/powerpoint/2010/main" val="23491479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E3B2E26-43A0-49D4-B06A-17B15E1A485E}" type="datetimeFigureOut">
              <a:rPr lang="ka-GE" smtClean="0"/>
              <a:t>02.02.2026</a:t>
            </a:fld>
            <a:endParaRPr lang="ka-G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ka-G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6D0349-FBED-4980-8179-BE2704519FE1}" type="slidenum">
              <a:rPr lang="ka-GE" smtClean="0"/>
              <a:t>‹#›</a:t>
            </a:fld>
            <a:endParaRPr lang="ka-GE"/>
          </a:p>
        </p:txBody>
      </p:sp>
    </p:spTree>
    <p:extLst>
      <p:ext uri="{BB962C8B-B14F-4D97-AF65-F5344CB8AC3E}">
        <p14:creationId xmlns:p14="http://schemas.microsoft.com/office/powerpoint/2010/main" val="391746139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31F0A-21ED-7F72-9AF8-84486C494A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1663045"/>
          </a:xfrm>
        </p:spPr>
        <p:txBody>
          <a:bodyPr/>
          <a:lstStyle/>
          <a:p>
            <a:r>
              <a:rPr lang="en-US" dirty="0"/>
              <a:t>SQL clauses</a:t>
            </a:r>
            <a:endParaRPr lang="ka-G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22C2D3-4E13-A391-2983-63E2B05A61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96446" y="4136359"/>
            <a:ext cx="6765301" cy="1447452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SQL clauses</a:t>
            </a:r>
            <a:r>
              <a:rPr lang="ka-GE" dirty="0">
                <a:solidFill>
                  <a:schemeClr val="tx1"/>
                </a:solidFill>
              </a:rPr>
              <a:t> სიტყვებია რომლებიც ინფორმაციის ბაზებს აკონტროლებენ და ასრულებენ სხვადასხვა მოქმედებებს მასზე</a:t>
            </a:r>
          </a:p>
        </p:txBody>
      </p:sp>
    </p:spTree>
    <p:extLst>
      <p:ext uri="{BB962C8B-B14F-4D97-AF65-F5344CB8AC3E}">
        <p14:creationId xmlns:p14="http://schemas.microsoft.com/office/powerpoint/2010/main" val="22551131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92EED-3B42-E081-7FC0-5F3163A66E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55842" y="1225485"/>
            <a:ext cx="3337089" cy="3374795"/>
          </a:xfrm>
          <a:ln w="28575">
            <a:solidFill>
              <a:schemeClr val="tx1">
                <a:alpha val="82000"/>
              </a:schemeClr>
            </a:solidFill>
          </a:ln>
        </p:spPr>
        <p:txBody>
          <a:bodyPr lIns="274320" tIns="274320" rIns="91440">
            <a:noAutofit/>
          </a:bodyPr>
          <a:lstStyle/>
          <a:p>
            <a:r>
              <a:rPr lang="en-US" sz="2400" b="1" dirty="0">
                <a:solidFill>
                  <a:schemeClr val="tx1"/>
                </a:solidFill>
              </a:rPr>
              <a:t>1) SELECT … FROM</a:t>
            </a:r>
            <a:br>
              <a:rPr lang="en-US" sz="2400" dirty="0">
                <a:solidFill>
                  <a:schemeClr val="tx1"/>
                </a:solidFill>
              </a:rPr>
            </a:br>
            <a:r>
              <a:rPr lang="en-US" sz="2400" dirty="0">
                <a:effectLst>
                  <a:outerShdw sx="1000" sy="1000" algn="ctr" rotWithShape="0">
                    <a:srgbClr val="000000"/>
                  </a:outerShdw>
                </a:effectLst>
              </a:rPr>
              <a:t>2) CREATE TABLE</a:t>
            </a:r>
            <a:br>
              <a:rPr lang="en-US" sz="2400" dirty="0">
                <a:effectLst>
                  <a:outerShdw sx="1000" sy="1000" algn="ctr" rotWithShape="0">
                    <a:srgbClr val="000000"/>
                  </a:outerShdw>
                </a:effectLst>
              </a:rPr>
            </a:br>
            <a:r>
              <a:rPr lang="en-US" sz="2400" dirty="0">
                <a:effectLst>
                  <a:outerShdw sx="1000" sy="1000" algn="ctr" rotWithShape="0">
                    <a:srgbClr val="000000"/>
                  </a:outerShdw>
                </a:effectLst>
              </a:rPr>
              <a:t>3) WHERE</a:t>
            </a:r>
            <a:br>
              <a:rPr lang="en-US" sz="2400" dirty="0">
                <a:effectLst>
                  <a:outerShdw sx="1000" sy="1000" algn="ctr" rotWithShape="0">
                    <a:srgbClr val="000000"/>
                  </a:outerShdw>
                </a:effectLst>
              </a:rPr>
            </a:br>
            <a:r>
              <a:rPr lang="en-US" sz="2400" dirty="0">
                <a:effectLst>
                  <a:outerShdw sx="1000" sy="1000" algn="ctr" rotWithShape="0">
                    <a:srgbClr val="000000"/>
                  </a:outerShdw>
                </a:effectLst>
              </a:rPr>
              <a:t>4) LIMIT</a:t>
            </a:r>
            <a:br>
              <a:rPr lang="en-US" sz="2400" dirty="0">
                <a:effectLst>
                  <a:outerShdw sx="1000" sy="1000" algn="ctr" rotWithShape="0">
                    <a:srgbClr val="000000"/>
                  </a:outerShdw>
                </a:effectLst>
              </a:rPr>
            </a:br>
            <a:r>
              <a:rPr lang="en-US" sz="2400" dirty="0">
                <a:effectLst>
                  <a:outerShdw sx="1000" sy="1000" algn="ctr" rotWithShape="0">
                    <a:srgbClr val="000000"/>
                  </a:outerShdw>
                </a:effectLst>
              </a:rPr>
              <a:t>5) BETWEEN</a:t>
            </a:r>
            <a:br>
              <a:rPr lang="en-US" sz="2400" dirty="0">
                <a:effectLst>
                  <a:outerShdw sx="1000" sy="1000" algn="ctr" rotWithShape="0">
                    <a:srgbClr val="000000"/>
                  </a:outerShdw>
                </a:effectLst>
              </a:rPr>
            </a:br>
            <a:r>
              <a:rPr lang="en-US" sz="2400" dirty="0">
                <a:effectLst>
                  <a:outerShdw sx="1000" sy="1000" algn="ctr" rotWithShape="0">
                    <a:srgbClr val="000000"/>
                  </a:outerShdw>
                </a:effectLst>
              </a:rPr>
              <a:t>6) ORDER BY</a:t>
            </a:r>
            <a:br>
              <a:rPr lang="en-US" sz="2400" dirty="0">
                <a:effectLst>
                  <a:outerShdw sx="1000" sy="1000" algn="ctr" rotWithShape="0">
                    <a:srgbClr val="000000"/>
                  </a:outerShdw>
                </a:effectLst>
              </a:rPr>
            </a:br>
            <a:r>
              <a:rPr lang="en-US" sz="2400" dirty="0">
                <a:effectLst>
                  <a:outerShdw sx="1000" sy="1000" algn="ctr" rotWithShape="0">
                    <a:srgbClr val="000000"/>
                  </a:outerShdw>
                </a:effectLst>
              </a:rPr>
              <a:t>7) LIKE</a:t>
            </a:r>
            <a:endParaRPr lang="ka-GE" sz="2400" dirty="0">
              <a:effectLst>
                <a:outerShdw sx="1000" sy="1000" algn="ctr" rotWithShape="0">
                  <a:srgbClr val="000000"/>
                </a:outerShdw>
              </a:effectLs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5D0225-E63D-5A88-1246-6EE72AD51F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4213783"/>
            <a:ext cx="7229983" cy="203461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SELECT clause</a:t>
            </a:r>
            <a:r>
              <a:rPr lang="ka-GE" dirty="0"/>
              <a:t> საშუალებას გვაძლევს ავირჩიოთ ინფორმაციის ბაზაში რაიმე სვეტი იმ ცხრილიდან </a:t>
            </a:r>
            <a:r>
              <a:rPr lang="en-US" dirty="0"/>
              <a:t>FROM </a:t>
            </a:r>
            <a:r>
              <a:rPr lang="ka-GE" dirty="0"/>
              <a:t>ის მერე რო დავწერთ და იქ მყოფი ინფორმაცია გამოვიყენოთ.</a:t>
            </a:r>
          </a:p>
          <a:p>
            <a:pPr marL="0" indent="0">
              <a:buNone/>
            </a:pPr>
            <a:r>
              <a:rPr lang="en-US" dirty="0"/>
              <a:t>SELECT</a:t>
            </a:r>
            <a:r>
              <a:rPr lang="ka-GE" dirty="0"/>
              <a:t> ის შემდეგ უნდა მიუთითო რომელი სვეტის წამოღება გსურს ან დაწერ ფიფქს რომ ყველა წამოიღოს.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91B696-22E5-7A98-62D0-29EFEA867CA1}"/>
              </a:ext>
            </a:extLst>
          </p:cNvPr>
          <p:cNvSpPr txBox="1"/>
          <p:nvPr/>
        </p:nvSpPr>
        <p:spPr>
          <a:xfrm>
            <a:off x="8776355" y="414780"/>
            <a:ext cx="18099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Clauses</a:t>
            </a:r>
            <a:endParaRPr lang="ka-GE" sz="32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9D225C1-357E-2DEA-8A4C-20ECEBC177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3849" y="1459480"/>
            <a:ext cx="4684691" cy="1264867"/>
          </a:xfrm>
          <a:prstGeom prst="rect">
            <a:avLst/>
          </a:prstGeom>
          <a:effectLst>
            <a:outerShdw blurRad="254000" sx="102000" sy="102000" algn="ctr" rotWithShape="0">
              <a:srgbClr val="000000">
                <a:alpha val="86000"/>
              </a:srgbClr>
            </a:outerShdw>
          </a:effectLst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FABFD1F-531A-E3E6-EEC7-666DF990BB32}"/>
              </a:ext>
            </a:extLst>
          </p:cNvPr>
          <p:cNvCxnSpPr>
            <a:cxnSpLocks/>
          </p:cNvCxnSpPr>
          <p:nvPr/>
        </p:nvCxnSpPr>
        <p:spPr>
          <a:xfrm>
            <a:off x="7928043" y="1668544"/>
            <a:ext cx="659776" cy="0"/>
          </a:xfrm>
          <a:prstGeom prst="straightConnector1">
            <a:avLst/>
          </a:prstGeom>
          <a:ln w="88900">
            <a:solidFill>
              <a:schemeClr val="tx1">
                <a:alpha val="90000"/>
              </a:schemeClr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44857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64EF43-1E1D-F7AD-85C5-BDF3B8ACF8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810EE-0135-ED73-82CC-31FE6879DA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55842" y="1225485"/>
            <a:ext cx="3337089" cy="3374795"/>
          </a:xfrm>
          <a:ln w="28575">
            <a:solidFill>
              <a:schemeClr val="tx1">
                <a:alpha val="82000"/>
              </a:schemeClr>
            </a:solidFill>
          </a:ln>
        </p:spPr>
        <p:txBody>
          <a:bodyPr lIns="274320" tIns="274320" rIns="91440">
            <a:noAutofit/>
          </a:bodyPr>
          <a:lstStyle/>
          <a:p>
            <a:r>
              <a:rPr lang="en-US" sz="2400" dirty="0">
                <a:solidFill>
                  <a:schemeClr val="tx1"/>
                </a:solidFill>
              </a:rPr>
              <a:t>1) SELECT … FROM</a:t>
            </a:r>
            <a:br>
              <a:rPr lang="en-US" sz="2400" dirty="0">
                <a:solidFill>
                  <a:schemeClr val="tx1"/>
                </a:solidFill>
              </a:rPr>
            </a:br>
            <a:r>
              <a:rPr lang="en-US" sz="2400" b="1" dirty="0">
                <a:effectLst>
                  <a:outerShdw sx="1000" sy="1000" algn="ctr" rotWithShape="0">
                    <a:srgbClr val="000000"/>
                  </a:outerShdw>
                </a:effectLst>
              </a:rPr>
              <a:t>2) CREATE TABLE</a:t>
            </a:r>
            <a:br>
              <a:rPr lang="en-US" sz="2400" dirty="0">
                <a:effectLst>
                  <a:outerShdw sx="1000" sy="1000" algn="ctr" rotWithShape="0">
                    <a:srgbClr val="000000"/>
                  </a:outerShdw>
                </a:effectLst>
              </a:rPr>
            </a:br>
            <a:r>
              <a:rPr lang="en-US" sz="2400" dirty="0">
                <a:effectLst>
                  <a:outerShdw sx="1000" sy="1000" algn="ctr" rotWithShape="0">
                    <a:srgbClr val="000000"/>
                  </a:outerShdw>
                </a:effectLst>
              </a:rPr>
              <a:t>3) WHERE</a:t>
            </a:r>
            <a:br>
              <a:rPr lang="en-US" sz="2400" dirty="0">
                <a:effectLst>
                  <a:outerShdw sx="1000" sy="1000" algn="ctr" rotWithShape="0">
                    <a:srgbClr val="000000"/>
                  </a:outerShdw>
                </a:effectLst>
              </a:rPr>
            </a:br>
            <a:r>
              <a:rPr lang="en-US" sz="2400" dirty="0">
                <a:effectLst>
                  <a:outerShdw sx="1000" sy="1000" algn="ctr" rotWithShape="0">
                    <a:srgbClr val="000000"/>
                  </a:outerShdw>
                </a:effectLst>
              </a:rPr>
              <a:t>4) LIMIT</a:t>
            </a:r>
            <a:br>
              <a:rPr lang="en-US" sz="2400" dirty="0">
                <a:effectLst>
                  <a:outerShdw sx="1000" sy="1000" algn="ctr" rotWithShape="0">
                    <a:srgbClr val="000000"/>
                  </a:outerShdw>
                </a:effectLst>
              </a:rPr>
            </a:br>
            <a:r>
              <a:rPr lang="en-US" sz="2400" dirty="0">
                <a:effectLst>
                  <a:outerShdw sx="1000" sy="1000" algn="ctr" rotWithShape="0">
                    <a:srgbClr val="000000"/>
                  </a:outerShdw>
                </a:effectLst>
              </a:rPr>
              <a:t>5) BETWEEN</a:t>
            </a:r>
            <a:br>
              <a:rPr lang="en-US" sz="2400" dirty="0">
                <a:effectLst>
                  <a:outerShdw sx="1000" sy="1000" algn="ctr" rotWithShape="0">
                    <a:srgbClr val="000000"/>
                  </a:outerShdw>
                </a:effectLst>
              </a:rPr>
            </a:br>
            <a:r>
              <a:rPr lang="en-US" sz="2400" dirty="0">
                <a:effectLst>
                  <a:outerShdw sx="1000" sy="1000" algn="ctr" rotWithShape="0">
                    <a:srgbClr val="000000"/>
                  </a:outerShdw>
                </a:effectLst>
              </a:rPr>
              <a:t>6) ORDER BY</a:t>
            </a:r>
            <a:br>
              <a:rPr lang="en-US" sz="2400" dirty="0">
                <a:effectLst>
                  <a:outerShdw sx="1000" sy="1000" algn="ctr" rotWithShape="0">
                    <a:srgbClr val="000000"/>
                  </a:outerShdw>
                </a:effectLst>
              </a:rPr>
            </a:br>
            <a:r>
              <a:rPr lang="en-US" sz="2400" dirty="0">
                <a:effectLst>
                  <a:outerShdw sx="1000" sy="1000" algn="ctr" rotWithShape="0">
                    <a:srgbClr val="000000"/>
                  </a:outerShdw>
                </a:effectLst>
              </a:rPr>
              <a:t>7) LIKE</a:t>
            </a:r>
            <a:endParaRPr lang="ka-GE" sz="2400" dirty="0">
              <a:effectLst>
                <a:outerShdw sx="1000" sy="1000" algn="ctr" rotWithShape="0">
                  <a:srgbClr val="000000"/>
                </a:outerShdw>
              </a:effectLs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011EA-DB48-009E-AF73-51D5300723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4213783"/>
            <a:ext cx="7229983" cy="136688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CREATE TABLE </a:t>
            </a:r>
            <a:r>
              <a:rPr lang="ka-GE" dirty="0"/>
              <a:t> ქმნის ახალ ცხრილს.</a:t>
            </a:r>
          </a:p>
          <a:p>
            <a:pPr marL="0" indent="0">
              <a:buNone/>
            </a:pPr>
            <a:r>
              <a:rPr lang="ka-GE" dirty="0"/>
              <a:t>უნდა მივუთითოთ სვეტის სახელები და მათი ტიპები.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FBBCD8-6792-84D6-68E1-FFD1653E9A90}"/>
              </a:ext>
            </a:extLst>
          </p:cNvPr>
          <p:cNvSpPr txBox="1"/>
          <p:nvPr/>
        </p:nvSpPr>
        <p:spPr>
          <a:xfrm>
            <a:off x="8776355" y="414780"/>
            <a:ext cx="18099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Clauses</a:t>
            </a:r>
            <a:endParaRPr lang="ka-GE" sz="3200" b="1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7B7F436-8012-9384-5FFA-6650141644B7}"/>
              </a:ext>
            </a:extLst>
          </p:cNvPr>
          <p:cNvCxnSpPr>
            <a:cxnSpLocks/>
          </p:cNvCxnSpPr>
          <p:nvPr/>
        </p:nvCxnSpPr>
        <p:spPr>
          <a:xfrm>
            <a:off x="7984554" y="2073896"/>
            <a:ext cx="659776" cy="0"/>
          </a:xfrm>
          <a:prstGeom prst="straightConnector1">
            <a:avLst/>
          </a:prstGeom>
          <a:ln w="88900">
            <a:solidFill>
              <a:schemeClr val="tx1">
                <a:alpha val="90000"/>
              </a:schemeClr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DD53E45B-3EF3-C406-E7C3-81817B90F4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904" y="1084083"/>
            <a:ext cx="6560606" cy="1743958"/>
          </a:xfrm>
          <a:prstGeom prst="rect">
            <a:avLst/>
          </a:prstGeom>
          <a:effectLst>
            <a:outerShdw blurRad="279400" sx="104000" sy="104000" algn="ctr" rotWithShape="0">
              <a:prstClr val="black">
                <a:alpha val="57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67298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BCD173-7A11-DBA3-41A4-3276F9AE88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C211A-4C48-512D-62AF-64D916060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55842" y="1225485"/>
            <a:ext cx="3337089" cy="3374795"/>
          </a:xfrm>
          <a:ln w="28575">
            <a:solidFill>
              <a:schemeClr val="tx1">
                <a:alpha val="82000"/>
              </a:schemeClr>
            </a:solidFill>
          </a:ln>
        </p:spPr>
        <p:txBody>
          <a:bodyPr lIns="274320" tIns="274320" rIns="91440">
            <a:noAutofit/>
          </a:bodyPr>
          <a:lstStyle/>
          <a:p>
            <a:r>
              <a:rPr lang="en-US" sz="2400" dirty="0">
                <a:solidFill>
                  <a:schemeClr val="tx1"/>
                </a:solidFill>
              </a:rPr>
              <a:t>1) SELECT … FROM</a:t>
            </a:r>
            <a:br>
              <a:rPr lang="en-US" sz="2400" dirty="0">
                <a:solidFill>
                  <a:schemeClr val="tx1"/>
                </a:solidFill>
              </a:rPr>
            </a:br>
            <a:r>
              <a:rPr lang="en-US" sz="2400" dirty="0">
                <a:effectLst>
                  <a:outerShdw sx="1000" sy="1000" algn="ctr" rotWithShape="0">
                    <a:srgbClr val="000000"/>
                  </a:outerShdw>
                </a:effectLst>
              </a:rPr>
              <a:t>2) CREATE TABLE</a:t>
            </a:r>
            <a:br>
              <a:rPr lang="en-US" sz="2400" dirty="0">
                <a:effectLst>
                  <a:outerShdw sx="1000" sy="1000" algn="ctr" rotWithShape="0">
                    <a:srgbClr val="000000"/>
                  </a:outerShdw>
                </a:effectLst>
              </a:rPr>
            </a:br>
            <a:r>
              <a:rPr lang="en-US" sz="2400" b="1" dirty="0">
                <a:effectLst>
                  <a:outerShdw sx="1000" sy="1000" algn="ctr" rotWithShape="0">
                    <a:srgbClr val="000000"/>
                  </a:outerShdw>
                </a:effectLst>
              </a:rPr>
              <a:t>3) WHERE</a:t>
            </a:r>
            <a:br>
              <a:rPr lang="en-US" sz="2400" dirty="0">
                <a:effectLst>
                  <a:outerShdw sx="1000" sy="1000" algn="ctr" rotWithShape="0">
                    <a:srgbClr val="000000"/>
                  </a:outerShdw>
                </a:effectLst>
              </a:rPr>
            </a:br>
            <a:r>
              <a:rPr lang="en-US" sz="2400" dirty="0">
                <a:effectLst>
                  <a:outerShdw sx="1000" sy="1000" algn="ctr" rotWithShape="0">
                    <a:srgbClr val="000000"/>
                  </a:outerShdw>
                </a:effectLst>
              </a:rPr>
              <a:t>4) LIMIT</a:t>
            </a:r>
            <a:br>
              <a:rPr lang="en-US" sz="2400" dirty="0">
                <a:effectLst>
                  <a:outerShdw sx="1000" sy="1000" algn="ctr" rotWithShape="0">
                    <a:srgbClr val="000000"/>
                  </a:outerShdw>
                </a:effectLst>
              </a:rPr>
            </a:br>
            <a:r>
              <a:rPr lang="en-US" sz="2400" dirty="0">
                <a:effectLst>
                  <a:outerShdw sx="1000" sy="1000" algn="ctr" rotWithShape="0">
                    <a:srgbClr val="000000"/>
                  </a:outerShdw>
                </a:effectLst>
              </a:rPr>
              <a:t>5) BETWEEN</a:t>
            </a:r>
            <a:br>
              <a:rPr lang="en-US" sz="2400" dirty="0">
                <a:effectLst>
                  <a:outerShdw sx="1000" sy="1000" algn="ctr" rotWithShape="0">
                    <a:srgbClr val="000000"/>
                  </a:outerShdw>
                </a:effectLst>
              </a:rPr>
            </a:br>
            <a:r>
              <a:rPr lang="en-US" sz="2400" dirty="0">
                <a:effectLst>
                  <a:outerShdw sx="1000" sy="1000" algn="ctr" rotWithShape="0">
                    <a:srgbClr val="000000"/>
                  </a:outerShdw>
                </a:effectLst>
              </a:rPr>
              <a:t>6) ORDER BY</a:t>
            </a:r>
            <a:br>
              <a:rPr lang="en-US" sz="2400" dirty="0">
                <a:effectLst>
                  <a:outerShdw sx="1000" sy="1000" algn="ctr" rotWithShape="0">
                    <a:srgbClr val="000000"/>
                  </a:outerShdw>
                </a:effectLst>
              </a:rPr>
            </a:br>
            <a:r>
              <a:rPr lang="en-US" sz="2400" dirty="0">
                <a:effectLst>
                  <a:outerShdw sx="1000" sy="1000" algn="ctr" rotWithShape="0">
                    <a:srgbClr val="000000"/>
                  </a:outerShdw>
                </a:effectLst>
              </a:rPr>
              <a:t>7) LIKE</a:t>
            </a:r>
            <a:endParaRPr lang="ka-GE" sz="2400" dirty="0">
              <a:effectLst>
                <a:outerShdw sx="1000" sy="1000" algn="ctr" rotWithShape="0">
                  <a:srgbClr val="000000"/>
                </a:outerShdw>
              </a:effectLs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DD9F80-DA65-3FAA-BF39-7F886B60F8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4213784"/>
            <a:ext cx="7229983" cy="130089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WHERE </a:t>
            </a:r>
            <a:r>
              <a:rPr lang="ka-GE" dirty="0"/>
              <a:t>საშუალებას გვაძლევს გავფილტროთ ინფორმაცია და ის ამოვიღოთ რომელიც ჩვენ გვჭირდება.</a:t>
            </a:r>
          </a:p>
          <a:p>
            <a:pPr marL="0" indent="0">
              <a:buNone/>
            </a:pPr>
            <a:r>
              <a:rPr lang="ka-GE" dirty="0"/>
              <a:t>გამოიყენება</a:t>
            </a:r>
            <a:r>
              <a:rPr lang="en-US" dirty="0"/>
              <a:t> SELECT</a:t>
            </a:r>
            <a:r>
              <a:rPr lang="ka-GE" dirty="0"/>
              <a:t> თან.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56CDD6-C94E-187B-89BA-AB500C215299}"/>
              </a:ext>
            </a:extLst>
          </p:cNvPr>
          <p:cNvSpPr txBox="1"/>
          <p:nvPr/>
        </p:nvSpPr>
        <p:spPr>
          <a:xfrm>
            <a:off x="8776355" y="414780"/>
            <a:ext cx="18099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Clauses</a:t>
            </a:r>
            <a:endParaRPr lang="ka-GE" sz="3200" b="1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2C83C1D-42BC-5BAE-0C93-131A494D1470}"/>
              </a:ext>
            </a:extLst>
          </p:cNvPr>
          <p:cNvCxnSpPr>
            <a:cxnSpLocks/>
          </p:cNvCxnSpPr>
          <p:nvPr/>
        </p:nvCxnSpPr>
        <p:spPr>
          <a:xfrm>
            <a:off x="7937419" y="2432113"/>
            <a:ext cx="659776" cy="0"/>
          </a:xfrm>
          <a:prstGeom prst="straightConnector1">
            <a:avLst/>
          </a:prstGeom>
          <a:ln w="88900">
            <a:solidFill>
              <a:schemeClr val="tx1">
                <a:alpha val="90000"/>
              </a:schemeClr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6C4B9BD9-BF30-FD34-4B65-D8B01FFA0A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7078" y="1594309"/>
            <a:ext cx="6155008" cy="1300895"/>
          </a:xfrm>
          <a:prstGeom prst="rect">
            <a:avLst/>
          </a:prstGeom>
          <a:effectLst>
            <a:outerShdw blurRad="241300" sx="103000" sy="103000" algn="ctr" rotWithShape="0">
              <a:prstClr val="black">
                <a:alpha val="68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172384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BF0899-BD16-1D53-97EA-8E925D9F6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43E7A-1A9E-7FC0-8296-48BB7292B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55842" y="1225485"/>
            <a:ext cx="3337089" cy="3374795"/>
          </a:xfrm>
          <a:ln w="28575">
            <a:solidFill>
              <a:schemeClr val="tx1">
                <a:alpha val="82000"/>
              </a:schemeClr>
            </a:solidFill>
          </a:ln>
        </p:spPr>
        <p:txBody>
          <a:bodyPr lIns="274320" tIns="274320" rIns="91440">
            <a:noAutofit/>
          </a:bodyPr>
          <a:lstStyle/>
          <a:p>
            <a:r>
              <a:rPr lang="en-US" sz="2400" dirty="0">
                <a:solidFill>
                  <a:schemeClr val="tx1"/>
                </a:solidFill>
              </a:rPr>
              <a:t>1) SELECT … FROM</a:t>
            </a:r>
            <a:br>
              <a:rPr lang="en-US" sz="2400" dirty="0">
                <a:solidFill>
                  <a:schemeClr val="tx1"/>
                </a:solidFill>
              </a:rPr>
            </a:br>
            <a:r>
              <a:rPr lang="en-US" sz="2400" dirty="0">
                <a:effectLst>
                  <a:outerShdw sx="1000" sy="1000" algn="ctr" rotWithShape="0">
                    <a:srgbClr val="000000"/>
                  </a:outerShdw>
                </a:effectLst>
              </a:rPr>
              <a:t>2) CREATE TABLE</a:t>
            </a:r>
            <a:br>
              <a:rPr lang="en-US" sz="2400" dirty="0">
                <a:effectLst>
                  <a:outerShdw sx="1000" sy="1000" algn="ctr" rotWithShape="0">
                    <a:srgbClr val="000000"/>
                  </a:outerShdw>
                </a:effectLst>
              </a:rPr>
            </a:br>
            <a:r>
              <a:rPr lang="en-US" sz="2400" dirty="0">
                <a:effectLst>
                  <a:outerShdw sx="1000" sy="1000" algn="ctr" rotWithShape="0">
                    <a:srgbClr val="000000"/>
                  </a:outerShdw>
                </a:effectLst>
              </a:rPr>
              <a:t>3) WHERE</a:t>
            </a:r>
            <a:br>
              <a:rPr lang="en-US" sz="2400" dirty="0">
                <a:effectLst>
                  <a:outerShdw sx="1000" sy="1000" algn="ctr" rotWithShape="0">
                    <a:srgbClr val="000000"/>
                  </a:outerShdw>
                </a:effectLst>
              </a:rPr>
            </a:br>
            <a:r>
              <a:rPr lang="en-US" sz="2400" b="1" dirty="0">
                <a:effectLst>
                  <a:outerShdw sx="1000" sy="1000" algn="ctr" rotWithShape="0">
                    <a:srgbClr val="000000"/>
                  </a:outerShdw>
                </a:effectLst>
              </a:rPr>
              <a:t>4) LIMIT</a:t>
            </a:r>
            <a:br>
              <a:rPr lang="en-US" sz="2400" dirty="0">
                <a:effectLst>
                  <a:outerShdw sx="1000" sy="1000" algn="ctr" rotWithShape="0">
                    <a:srgbClr val="000000"/>
                  </a:outerShdw>
                </a:effectLst>
              </a:rPr>
            </a:br>
            <a:r>
              <a:rPr lang="en-US" sz="2400" dirty="0">
                <a:effectLst>
                  <a:outerShdw sx="1000" sy="1000" algn="ctr" rotWithShape="0">
                    <a:srgbClr val="000000"/>
                  </a:outerShdw>
                </a:effectLst>
              </a:rPr>
              <a:t>5) BETWEEN</a:t>
            </a:r>
            <a:br>
              <a:rPr lang="en-US" sz="2400" dirty="0">
                <a:effectLst>
                  <a:outerShdw sx="1000" sy="1000" algn="ctr" rotWithShape="0">
                    <a:srgbClr val="000000"/>
                  </a:outerShdw>
                </a:effectLst>
              </a:rPr>
            </a:br>
            <a:r>
              <a:rPr lang="en-US" sz="2400" dirty="0">
                <a:effectLst>
                  <a:outerShdw sx="1000" sy="1000" algn="ctr" rotWithShape="0">
                    <a:srgbClr val="000000"/>
                  </a:outerShdw>
                </a:effectLst>
              </a:rPr>
              <a:t>6) ORDER BY</a:t>
            </a:r>
            <a:br>
              <a:rPr lang="en-US" sz="2400" dirty="0">
                <a:effectLst>
                  <a:outerShdw sx="1000" sy="1000" algn="ctr" rotWithShape="0">
                    <a:srgbClr val="000000"/>
                  </a:outerShdw>
                </a:effectLst>
              </a:rPr>
            </a:br>
            <a:r>
              <a:rPr lang="en-US" sz="2400" dirty="0">
                <a:effectLst>
                  <a:outerShdw sx="1000" sy="1000" algn="ctr" rotWithShape="0">
                    <a:srgbClr val="000000"/>
                  </a:outerShdw>
                </a:effectLst>
              </a:rPr>
              <a:t>7) LIKE</a:t>
            </a:r>
            <a:endParaRPr lang="ka-GE" sz="2400" dirty="0">
              <a:effectLst>
                <a:outerShdw sx="1000" sy="1000" algn="ctr" rotWithShape="0">
                  <a:srgbClr val="000000"/>
                </a:outerShdw>
              </a:effectLs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D9593D-140E-1287-B8AC-ABE330C25F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4213784"/>
            <a:ext cx="7229983" cy="130089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LIMIT </a:t>
            </a:r>
            <a:r>
              <a:rPr lang="ka-GE" dirty="0"/>
              <a:t>გამოიყენება იმისთვის რომ ვაკონტროლოთ რამდენი მონაცემი უნდა წამოვიღოთ.</a:t>
            </a:r>
          </a:p>
          <a:p>
            <a:pPr marL="0" indent="0">
              <a:buNone/>
            </a:pPr>
            <a:r>
              <a:rPr lang="ka-GE" dirty="0"/>
              <a:t>იწერება </a:t>
            </a:r>
            <a:r>
              <a:rPr lang="en-US" dirty="0"/>
              <a:t>WHERE </a:t>
            </a:r>
            <a:r>
              <a:rPr lang="ka-GE" dirty="0"/>
              <a:t>ის ბოლოში.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40C0FB-87BE-1441-51C3-E7E0445D71D3}"/>
              </a:ext>
            </a:extLst>
          </p:cNvPr>
          <p:cNvSpPr txBox="1"/>
          <p:nvPr/>
        </p:nvSpPr>
        <p:spPr>
          <a:xfrm>
            <a:off x="8776355" y="414780"/>
            <a:ext cx="18099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Clauses</a:t>
            </a:r>
            <a:endParaRPr lang="ka-GE" sz="3200" b="1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53C3A83-9111-549B-FF1E-8D130F82759B}"/>
              </a:ext>
            </a:extLst>
          </p:cNvPr>
          <p:cNvCxnSpPr>
            <a:cxnSpLocks/>
          </p:cNvCxnSpPr>
          <p:nvPr/>
        </p:nvCxnSpPr>
        <p:spPr>
          <a:xfrm>
            <a:off x="7871432" y="2818612"/>
            <a:ext cx="659776" cy="0"/>
          </a:xfrm>
          <a:prstGeom prst="straightConnector1">
            <a:avLst/>
          </a:prstGeom>
          <a:ln w="88900">
            <a:solidFill>
              <a:schemeClr val="tx1">
                <a:alpha val="90000"/>
              </a:schemeClr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CC750355-6998-B544-D93F-E7C7D0D466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80" y="1412448"/>
            <a:ext cx="6961191" cy="1132789"/>
          </a:xfrm>
          <a:prstGeom prst="rect">
            <a:avLst/>
          </a:prstGeom>
          <a:effectLst>
            <a:outerShdw blurRad="241300" sx="104000" sy="104000" algn="ctr" rotWithShape="0">
              <a:prstClr val="black">
                <a:alpha val="55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9125445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144</TotalTime>
  <Words>225</Words>
  <Application>Microsoft Office PowerPoint</Application>
  <PresentationFormat>Widescreen</PresentationFormat>
  <Paragraphs>18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Century Gothic</vt:lpstr>
      <vt:lpstr>Sylfaen</vt:lpstr>
      <vt:lpstr>Wingdings 3</vt:lpstr>
      <vt:lpstr>Ion</vt:lpstr>
      <vt:lpstr>SQL clauses</vt:lpstr>
      <vt:lpstr>1) SELECT … FROM 2) CREATE TABLE 3) WHERE 4) LIMIT 5) BETWEEN 6) ORDER BY 7) LIKE</vt:lpstr>
      <vt:lpstr>1) SELECT … FROM 2) CREATE TABLE 3) WHERE 4) LIMIT 5) BETWEEN 6) ORDER BY 7) LIKE</vt:lpstr>
      <vt:lpstr>1) SELECT … FROM 2) CREATE TABLE 3) WHERE 4) LIMIT 5) BETWEEN 6) ORDER BY 7) LIKE</vt:lpstr>
      <vt:lpstr>1) SELECT … FROM 2) CREATE TABLE 3) WHERE 4) LIMIT 5) BETWEEN 6) ORDER BY 7) LIKE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tsotne bajelidze</dc:creator>
  <cp:lastModifiedBy>tsotne bajelidze</cp:lastModifiedBy>
  <cp:revision>2</cp:revision>
  <dcterms:created xsi:type="dcterms:W3CDTF">2026-02-02T16:42:39Z</dcterms:created>
  <dcterms:modified xsi:type="dcterms:W3CDTF">2026-02-02T19:07:19Z</dcterms:modified>
</cp:coreProperties>
</file>